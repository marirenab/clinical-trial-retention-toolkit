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3" r:id="rId2"/>
    <p:sldId id="262" r:id="rId3"/>
    <p:sldId id="261" r:id="rId4"/>
    <p:sldId id="260" r:id="rId5"/>
    <p:sldId id="257" r:id="rId6"/>
    <p:sldId id="256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7B91"/>
    <a:srgbClr val="326599"/>
    <a:srgbClr val="7EAE8A"/>
    <a:srgbClr val="A9EBB8"/>
    <a:srgbClr val="460A5D"/>
    <a:srgbClr val="4C55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47"/>
    <p:restoredTop sz="96253"/>
  </p:normalViewPr>
  <p:slideViewPr>
    <p:cSldViewPr snapToGrid="0">
      <p:cViewPr>
        <p:scale>
          <a:sx n="121" d="100"/>
          <a:sy n="121" d="100"/>
        </p:scale>
        <p:origin x="70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D0C82B-B48B-544A-BD42-48056C5F6DE3}" type="datetimeFigureOut">
              <a:rPr lang="en-US" smtClean="0"/>
              <a:t>7/4/24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2338B6-F1B3-5E4C-98AA-F04B5DF8A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78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2338B6-F1B3-5E4C-98AA-F04B5DF8A4E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47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2338B6-F1B3-5E4C-98AA-F04B5DF8A4E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22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3D853-0B24-B976-C223-DC2B6859B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4D0934-3B7C-176E-C6EC-EFB294E56E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A37C2-937C-1557-0FCC-3C2A574C8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3054-6E05-0745-81E0-8F638F690392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51B37-7E16-EFA9-9AA6-2BEC8BA90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BFF6F-69DA-A819-B26E-797F5DFCB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187D-4ACB-7D42-9895-23F6B1AF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3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05E61-956F-331E-7550-1ECA8A391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748E5-C3C2-C112-8889-A709ED8D5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9AE21-B478-7230-FC6A-83C38C8FE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3054-6E05-0745-81E0-8F638F690392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D52A5-7E7A-CB38-D871-F280F8F6D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A5842-46A8-978F-8ADA-6A285BE17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187D-4ACB-7D42-9895-23F6B1AF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677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A2CE-D30A-BC8F-74D2-296329A51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291E1-3932-FD12-334F-B02C9B5E6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D6429-74B1-A6B8-F5F6-970A13D23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3054-6E05-0745-81E0-8F638F690392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BF3D7-8329-5544-CA92-7DCFEC3BA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62115-4DBA-243D-7015-E65038631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187D-4ACB-7D42-9895-23F6B1AF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559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189BC-CD7E-9F25-BD04-DFC379AE1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E9D57-7BB0-F5DF-F750-0E68BB1A38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9E0A62-3594-A81C-78A2-C588DEB9A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3AC7B-E3D6-C464-4028-DD04C0636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3054-6E05-0745-81E0-8F638F690392}" type="datetimeFigureOut">
              <a:rPr lang="en-US" smtClean="0"/>
              <a:t>7/4/24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AF77D-C548-DE7B-5527-21F35B80B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7213D-F945-83C3-CBA1-BCEC6109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187D-4ACB-7D42-9895-23F6B1AF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066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2E692-A502-D5D3-5D09-7ED7CCFD7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B1262-87D0-724F-D49E-6285D2D5D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14B10C-16A3-F47B-9070-AFAE4CA81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3FF03-DA3B-B5BC-9CE4-FCD66F9A81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A119F3-5551-ABB0-FE4C-1420F13CC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2EC30C-9FE9-20F8-B681-1658F2147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3054-6E05-0745-81E0-8F638F690392}" type="datetimeFigureOut">
              <a:rPr lang="en-US" smtClean="0"/>
              <a:t>7/4/24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746441-8967-CE48-6EB5-B21DEAB87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ABFAFC-8C2D-81A6-C5CF-07B4E44FE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187D-4ACB-7D42-9895-23F6B1AF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503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381CB-7C2D-5ED9-CF4C-5CF64A36F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DCBEC0-F371-932D-E05F-4A05E17DA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3054-6E05-0745-81E0-8F638F690392}" type="datetimeFigureOut">
              <a:rPr lang="en-US" smtClean="0"/>
              <a:t>7/4/24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295FD1-660F-E7D3-4766-E432219CC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FE5E2-956D-866E-15C9-EB722F378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187D-4ACB-7D42-9895-23F6B1AF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783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81202D-EE1A-24BA-06F6-8A3FA3305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3054-6E05-0745-81E0-8F638F690392}" type="datetimeFigureOut">
              <a:rPr lang="en-US" smtClean="0"/>
              <a:t>7/4/24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FA5BBD-F19B-D229-3B52-256B6F709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3EDB0-619F-3F2A-8F00-88710594E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187D-4ACB-7D42-9895-23F6B1AF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66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0B6E3-5C49-7D3D-66F4-43524529B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FE5A7-21CA-C6EA-FE8F-67278A1DF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B9067-32B3-56BE-6B15-2EB3CCA06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9A966-862E-DC94-D3E2-9D49DD6ED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3054-6E05-0745-81E0-8F638F690392}" type="datetimeFigureOut">
              <a:rPr lang="en-US" smtClean="0"/>
              <a:t>7/4/24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07598-91FA-BAE6-8E7F-1BA470F88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247A4-581B-1030-D068-BC8B70B94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187D-4ACB-7D42-9895-23F6B1AF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67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B6C81-E124-564F-096A-8AFAB135B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1EFBBB-80D4-AE68-108C-8D274982C0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EB4F2D-1C9A-B251-25B0-A328DA0BB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EE107-1D85-55A5-67C4-1C602C17B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3054-6E05-0745-81E0-8F638F690392}" type="datetimeFigureOut">
              <a:rPr lang="en-US" smtClean="0"/>
              <a:t>7/4/24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67B64-C607-2CDF-2049-D1D64226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B69597-9E67-40D9-CB47-DDE8E2459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187D-4ACB-7D42-9895-23F6B1AF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725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A8A1-A2DD-66EF-EEA2-7CDC52245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3E6D9D-B996-57A6-EBB1-9A6CAB719A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4C7D2-498F-E4A1-DFA6-A2E1AC5E0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3054-6E05-0745-81E0-8F638F690392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EF1A4-32F4-EE1E-B3AA-301993025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D76B3-E968-A60B-01A9-03B24C4B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187D-4ACB-7D42-9895-23F6B1AF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57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19D74D-C5BC-7FF7-7350-1C07875E77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9467B-2EB1-F688-EA70-30A7678AD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4F1CA-B0C3-867D-695B-C5F7D64F9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83054-6E05-0745-81E0-8F638F690392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E2E2A-59A5-C296-AC1C-9A73391B5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FFABF-724D-A527-0F9B-1A0E9E147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187D-4ACB-7D42-9895-23F6B1AF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656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9E4422-867B-2C4E-42BC-FC354ADBA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9ECA2-F092-C98F-10D9-4C419CE9A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C8ADA-5731-7CB4-C5C9-B72256D85F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E83054-6E05-0745-81E0-8F638F690392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5D3EC-159A-BE22-B1A7-EA276E852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A6389-C66E-75C5-557E-20A371446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84187D-4ACB-7D42-9895-23F6B1AFC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79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30425C-105B-5210-8EBC-B049DB971C2C}"/>
              </a:ext>
            </a:extLst>
          </p:cNvPr>
          <p:cNvSpPr txBox="1"/>
          <p:nvPr/>
        </p:nvSpPr>
        <p:spPr>
          <a:xfrm>
            <a:off x="1219200" y="2967334"/>
            <a:ext cx="10106731" cy="4616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Data-driven estimation of retention rate for clinical trials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3E54F6-C611-4B22-F27B-CF468881D639}"/>
              </a:ext>
            </a:extLst>
          </p:cNvPr>
          <p:cNvSpPr txBox="1"/>
          <p:nvPr/>
        </p:nvSpPr>
        <p:spPr>
          <a:xfrm>
            <a:off x="9259752" y="6267797"/>
            <a:ext cx="2929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Marirena Bafaloukou</a:t>
            </a:r>
          </a:p>
        </p:txBody>
      </p:sp>
    </p:spTree>
    <p:extLst>
      <p:ext uri="{BB962C8B-B14F-4D97-AF65-F5344CB8AC3E}">
        <p14:creationId xmlns:p14="http://schemas.microsoft.com/office/powerpoint/2010/main" val="1167317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C8D95A-9508-1CFD-B396-3B947B78612A}"/>
              </a:ext>
            </a:extLst>
          </p:cNvPr>
          <p:cNvSpPr txBox="1"/>
          <p:nvPr/>
        </p:nvSpPr>
        <p:spPr>
          <a:xfrm>
            <a:off x="119382" y="654454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from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9167B9-6A75-70DA-1755-7F79AA2BC9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228" b="2055"/>
          <a:stretch/>
        </p:blipFill>
        <p:spPr>
          <a:xfrm>
            <a:off x="6830621" y="1520640"/>
            <a:ext cx="4598552" cy="381671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CAFF2D7-3105-3C6B-0109-B9BC5A3E87FD}"/>
              </a:ext>
            </a:extLst>
          </p:cNvPr>
          <p:cNvGrpSpPr/>
          <p:nvPr/>
        </p:nvGrpSpPr>
        <p:grpSpPr>
          <a:xfrm>
            <a:off x="207775" y="3906288"/>
            <a:ext cx="4214615" cy="2862141"/>
            <a:chOff x="69144" y="1181095"/>
            <a:chExt cx="4214615" cy="286214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B51E3BC-831A-9634-7B08-57769472E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6523" y="1628394"/>
              <a:ext cx="3987236" cy="241484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D6CB5D5-8BE8-79DB-0F2A-49209CC32B07}"/>
                </a:ext>
              </a:extLst>
            </p:cNvPr>
            <p:cNvSpPr txBox="1"/>
            <p:nvPr/>
          </p:nvSpPr>
          <p:spPr>
            <a:xfrm>
              <a:off x="69144" y="1181095"/>
              <a:ext cx="39934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Specific condition or set of conditions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35E0869-D493-BA20-F392-EB385BED70BE}"/>
              </a:ext>
            </a:extLst>
          </p:cNvPr>
          <p:cNvGrpSpPr/>
          <p:nvPr/>
        </p:nvGrpSpPr>
        <p:grpSpPr>
          <a:xfrm>
            <a:off x="239132" y="1023786"/>
            <a:ext cx="4292708" cy="2655227"/>
            <a:chOff x="278377" y="3800348"/>
            <a:chExt cx="4292708" cy="265522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450EC25-7A13-563E-684A-FC2FDE57EF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463" t="33229" r="3410" b="21380"/>
            <a:stretch/>
          </p:blipFill>
          <p:spPr>
            <a:xfrm>
              <a:off x="385674" y="4147889"/>
              <a:ext cx="4185411" cy="230768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6E15E4-A429-0DF4-4D6B-F5712FCECC75}"/>
                </a:ext>
              </a:extLst>
            </p:cNvPr>
            <p:cNvSpPr txBox="1"/>
            <p:nvPr/>
          </p:nvSpPr>
          <p:spPr>
            <a:xfrm>
              <a:off x="278377" y="3800348"/>
              <a:ext cx="12673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Results </a:t>
              </a:r>
            </a:p>
          </p:txBody>
        </p:sp>
      </p:grpSp>
      <p:sp>
        <p:nvSpPr>
          <p:cNvPr id="15" name="Striped Right Arrow 14">
            <a:extLst>
              <a:ext uri="{FF2B5EF4-FFF2-40B4-BE49-F238E27FC236}">
                <a16:creationId xmlns:a16="http://schemas.microsoft.com/office/drawing/2014/main" id="{E44B98B9-C4F0-002B-622E-052AB5C94218}"/>
              </a:ext>
            </a:extLst>
          </p:cNvPr>
          <p:cNvSpPr/>
          <p:nvPr/>
        </p:nvSpPr>
        <p:spPr>
          <a:xfrm>
            <a:off x="4914774" y="3127271"/>
            <a:ext cx="1695449" cy="972788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B65EA65-A18A-B05E-266D-4DCD66BFAD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7678" y="478749"/>
            <a:ext cx="2692400" cy="6096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48502D8-15E3-5290-B735-733D10E94A6B}"/>
              </a:ext>
            </a:extLst>
          </p:cNvPr>
          <p:cNvSpPr txBox="1"/>
          <p:nvPr/>
        </p:nvSpPr>
        <p:spPr>
          <a:xfrm>
            <a:off x="5045531" y="131234"/>
            <a:ext cx="6132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7978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4D5CB4-A243-4A7B-ADA6-AC4AE3579E3C}"/>
              </a:ext>
            </a:extLst>
          </p:cNvPr>
          <p:cNvSpPr txBox="1"/>
          <p:nvPr/>
        </p:nvSpPr>
        <p:spPr>
          <a:xfrm>
            <a:off x="142876" y="294620"/>
            <a:ext cx="7542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parameters affect retention in clinical trials?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FDD86-792B-F34D-66F8-187CD006BD82}"/>
              </a:ext>
            </a:extLst>
          </p:cNvPr>
          <p:cNvSpPr txBox="1"/>
          <p:nvPr/>
        </p:nvSpPr>
        <p:spPr>
          <a:xfrm>
            <a:off x="142876" y="1730751"/>
            <a:ext cx="485774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mining techniques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publications : Word pairwise correlation across publications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Words of interest: </a:t>
            </a:r>
            <a:r>
              <a:rPr lang="en-US" b="1" u="sng" dirty="0">
                <a:solidFill>
                  <a:srgbClr val="3265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retention</a:t>
            </a:r>
            <a:r>
              <a:rPr lang="en-US" b="1" u="sng" dirty="0">
                <a:solidFill>
                  <a:srgbClr val="017B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3265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b="1" dirty="0">
                <a:solidFill>
                  <a:srgbClr val="017B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dirty="0">
                <a:solidFill>
                  <a:srgbClr val="3265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withdrawal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Consultation with healthcare professionals and clinicians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literature search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1FE1A8-38DD-CC97-1745-4A871281D9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82" t="8567" r="10336" b="580"/>
          <a:stretch/>
        </p:blipFill>
        <p:spPr>
          <a:xfrm>
            <a:off x="4842549" y="1188978"/>
            <a:ext cx="7349451" cy="56690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38D239-46CC-8B4B-1850-0E574ED17F9F}"/>
              </a:ext>
            </a:extLst>
          </p:cNvPr>
          <p:cNvSpPr txBox="1"/>
          <p:nvPr/>
        </p:nvSpPr>
        <p:spPr>
          <a:xfrm>
            <a:off x="6929437" y="1004312"/>
            <a:ext cx="4443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40 reasons for withdrawal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24C9D3D-E32B-68C3-C819-ACF1E016D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712" y="2239148"/>
            <a:ext cx="1170363" cy="3952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AFEB40-1415-5E04-04FD-283CFF9C73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5851" y="1730751"/>
            <a:ext cx="1656436" cy="37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686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43007E-DAA2-1893-5823-570782572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2" y="987375"/>
            <a:ext cx="3664154" cy="1681200"/>
          </a:xfrm>
          <a:prstGeom prst="rect">
            <a:avLst/>
          </a:prstGeom>
          <a:effectLst>
            <a:softEdge rad="49963"/>
          </a:effec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CB937DF-6DE9-27A3-E93F-36A347993EB1}"/>
              </a:ext>
            </a:extLst>
          </p:cNvPr>
          <p:cNvGrpSpPr/>
          <p:nvPr/>
        </p:nvGrpSpPr>
        <p:grpSpPr>
          <a:xfrm>
            <a:off x="5481670" y="1015473"/>
            <a:ext cx="4266105" cy="335541"/>
            <a:chOff x="6727526" y="2702675"/>
            <a:chExt cx="4266105" cy="33554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D65EB89-E473-0237-CC68-62395C9E5C3E}"/>
                </a:ext>
              </a:extLst>
            </p:cNvPr>
            <p:cNvSpPr txBox="1"/>
            <p:nvPr/>
          </p:nvSpPr>
          <p:spPr>
            <a:xfrm>
              <a:off x="6727526" y="2741660"/>
              <a:ext cx="12730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Retention rate =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0A59D81-4AE5-648B-0CD2-F58C369297E9}"/>
                    </a:ext>
                  </a:extLst>
                </p:cNvPr>
                <p:cNvSpPr txBox="1"/>
                <p:nvPr/>
              </p:nvSpPr>
              <p:spPr>
                <a:xfrm>
                  <a:off x="8541421" y="2702675"/>
                  <a:ext cx="2452210" cy="33554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05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  <m:t>𝑁𝑢𝑚𝑏𝑒𝑟</m:t>
                            </m:r>
                            <m: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  <m:t>𝑜𝑓</m:t>
                            </m:r>
                            <m: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  <m:t>𝑝𝑎𝑟𝑡𝑖𝑐𝑖𝑝𝑎𝑛𝑡𝑠</m:t>
                            </m:r>
                            <m: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  <m:t>𝑡h𝑎𝑡</m:t>
                            </m:r>
                            <m: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  <m:t>𝑐𝑜𝑚𝑝𝑙𝑒𝑡𝑒𝑑</m:t>
                            </m:r>
                          </m:num>
                          <m:den>
                            <m: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  <m:t>𝑁𝑢𝑚𝑏𝑒𝑟</m:t>
                            </m:r>
                            <m: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  <m:t>𝑜𝑓</m:t>
                            </m:r>
                            <m: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  <m:t>𝑝𝑎𝑟𝑡𝑖𝑐𝑖𝑝𝑎𝑛𝑡𝑠</m:t>
                            </m:r>
                            <m: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  <m:t>𝑡h𝑎𝑡</m:t>
                            </m:r>
                            <m: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sz="1050" b="0" i="1" smtClean="0">
                                <a:latin typeface="Cambria Math" panose="02040503050406030204" pitchFamily="18" charset="0"/>
                              </a:rPr>
                              <m:t>𝑠𝑡𝑎𝑟𝑡𝑒𝑑</m:t>
                            </m:r>
                          </m:den>
                        </m:f>
                      </m:oMath>
                    </m:oMathPara>
                  </a14:m>
                  <a:endPara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0A59D81-4AE5-648B-0CD2-F58C369297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41421" y="2702675"/>
                  <a:ext cx="2452210" cy="335541"/>
                </a:xfrm>
                <a:prstGeom prst="rect">
                  <a:avLst/>
                </a:prstGeom>
                <a:blipFill>
                  <a:blip r:embed="rId3"/>
                  <a:stretch>
                    <a:fillRect l="-1031" t="-7143" r="-1031" b="-17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10CDD11-055D-7A01-CF93-CDBB8FAD8146}"/>
              </a:ext>
            </a:extLst>
          </p:cNvPr>
          <p:cNvSpPr txBox="1"/>
          <p:nvPr/>
        </p:nvSpPr>
        <p:spPr>
          <a:xfrm>
            <a:off x="36448" y="76508"/>
            <a:ext cx="69909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target variable and set of features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799035-95D8-B93E-315A-27CEEF669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7" y="3091322"/>
            <a:ext cx="3670695" cy="1328535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0CB05A1-711F-74D6-7E5E-7789DA56BAE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346" r="15594" b="969"/>
          <a:stretch/>
        </p:blipFill>
        <p:spPr>
          <a:xfrm>
            <a:off x="36447" y="4935570"/>
            <a:ext cx="3670696" cy="1442457"/>
          </a:xfrm>
          <a:prstGeom prst="rect">
            <a:avLst/>
          </a:prstGeom>
          <a:effectLst>
            <a:softEdge rad="38100"/>
          </a:effec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234D2E62-9099-7BD5-290E-DBAB62535A18}"/>
              </a:ext>
            </a:extLst>
          </p:cNvPr>
          <p:cNvGrpSpPr/>
          <p:nvPr/>
        </p:nvGrpSpPr>
        <p:grpSpPr>
          <a:xfrm>
            <a:off x="3838577" y="1572734"/>
            <a:ext cx="8110536" cy="5008998"/>
            <a:chOff x="909638" y="-100013"/>
            <a:chExt cx="11022805" cy="6958013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B6943D0-636E-A10D-5DC8-7974690E5D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9638" y="3390900"/>
              <a:ext cx="5372100" cy="34671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B193D78-AA1F-7555-77C1-FD485D4DC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60343" y="-100013"/>
              <a:ext cx="5372100" cy="346710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0E91F49-F70A-A3FA-FEFB-88D610DAF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9638" y="-100013"/>
              <a:ext cx="5372100" cy="346710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FDB4C23-E362-0550-DDAE-FF8F66844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560343" y="3390900"/>
              <a:ext cx="5372100" cy="3467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844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BC8A3A92-4317-FAE6-B550-6C59C0F246A0}"/>
              </a:ext>
            </a:extLst>
          </p:cNvPr>
          <p:cNvGrpSpPr/>
          <p:nvPr/>
        </p:nvGrpSpPr>
        <p:grpSpPr>
          <a:xfrm>
            <a:off x="6943286" y="481676"/>
            <a:ext cx="6367056" cy="4168194"/>
            <a:chOff x="6943286" y="1593606"/>
            <a:chExt cx="6367056" cy="416819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1DCE209-49F5-78AA-A8BF-82CA7765FECA}"/>
                </a:ext>
              </a:extLst>
            </p:cNvPr>
            <p:cNvSpPr txBox="1"/>
            <p:nvPr/>
          </p:nvSpPr>
          <p:spPr>
            <a:xfrm>
              <a:off x="7214342" y="1593606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Common study designs related to low retention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E0CCE58-18BA-87D5-FA14-784F3CFFA5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43286" y="1962938"/>
              <a:ext cx="5219700" cy="3798862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BD147EF-124D-38B6-9DD0-82B2FDAF4EFE}"/>
              </a:ext>
            </a:extLst>
          </p:cNvPr>
          <p:cNvSpPr txBox="1"/>
          <p:nvPr/>
        </p:nvSpPr>
        <p:spPr>
          <a:xfrm>
            <a:off x="0" y="4884637"/>
            <a:ext cx="61007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OpenAI API / pre-defined entities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Natural language processing packages (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e.g</a:t>
            </a:r>
            <a:r>
              <a:rPr lang="en-GB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sciSpaCy) (Neumann et al., 2019)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Pre-trained &amp; fine-tuned models such as BioBert trained on PubMed abstracts and PMC, or Clinical-Trial Bert (Liu et al., 2022)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21237D-1B0C-08E5-EA69-E4BCD0669676}"/>
              </a:ext>
            </a:extLst>
          </p:cNvPr>
          <p:cNvSpPr txBox="1"/>
          <p:nvPr/>
        </p:nvSpPr>
        <p:spPr>
          <a:xfrm>
            <a:off x="29014" y="63999"/>
            <a:ext cx="7056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extraction and feature engineering?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91684B-DDF5-62D7-31FC-7BEED713D60A}"/>
              </a:ext>
            </a:extLst>
          </p:cNvPr>
          <p:cNvSpPr txBox="1"/>
          <p:nvPr/>
        </p:nvSpPr>
        <p:spPr>
          <a:xfrm>
            <a:off x="29014" y="4465204"/>
            <a:ext cx="3557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017B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Named Entity Recognition (NER)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E3DD95-7150-ADB3-D14F-56BCE1328182}"/>
              </a:ext>
            </a:extLst>
          </p:cNvPr>
          <p:cNvSpPr txBox="1"/>
          <p:nvPr/>
        </p:nvSpPr>
        <p:spPr>
          <a:xfrm>
            <a:off x="0" y="2874014"/>
            <a:ext cx="69432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dirty="0">
              <a:solidFill>
                <a:srgbClr val="4C559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Timeframe of study stages </a:t>
            </a:r>
          </a:p>
          <a:p>
            <a:pPr algn="just"/>
            <a:r>
              <a:rPr lang="en-US" i="1" dirty="0">
                <a:solidFill>
                  <a:srgbClr val="4C55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>
                <a:solidFill>
                  <a:srgbClr val="4C55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050" i="1" dirty="0">
                <a:solidFill>
                  <a:srgbClr val="4C55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Participants were evaluated weekly for the first two weeks after randomization and then biweekly thereafter till week 12.”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8222A0-4929-0390-7551-0D235C01C06E}"/>
              </a:ext>
            </a:extLst>
          </p:cNvPr>
          <p:cNvSpPr txBox="1"/>
          <p:nvPr/>
        </p:nvSpPr>
        <p:spPr>
          <a:xfrm>
            <a:off x="128787" y="669247"/>
            <a:ext cx="4514853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Descriptions of clinical trial  </a:t>
            </a:r>
          </a:p>
          <a:p>
            <a:pPr algn="just"/>
            <a:r>
              <a:rPr lang="en-US" sz="1000" dirty="0">
                <a:solidFill>
                  <a:srgbClr val="4C55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>
                <a:solidFill>
                  <a:srgbClr val="4C559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“During the 18-day blind treatment period, subjects will be prescribed Methylphenidate 5-10 mg twice per day and Selective Serotonin Reuptake Inhibitor. Subjects receiving a SSRI when they begin the study, will continue on the recommended dose of that SSRI; subjects not already receiving a SSRI will be prescribed 10-20 mg per day Citalopram. Subjects who respond to methylphenidate treatment will have the option of continuing on methylphenidate, up to 15 mg bid, and an antidepressant in the 6 week open label portion of the study.”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0CFCA0-DB15-9659-FCF9-EB3C57CBC78A}"/>
              </a:ext>
            </a:extLst>
          </p:cNvPr>
          <p:cNvSpPr txBox="1"/>
          <p:nvPr/>
        </p:nvSpPr>
        <p:spPr>
          <a:xfrm>
            <a:off x="-121443" y="2044993"/>
            <a:ext cx="66579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Medication name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Medication dosage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Medication frequency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technology or applications for communication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A93EB06-E79E-00B2-5639-9A6FBA25DDC8}"/>
              </a:ext>
            </a:extLst>
          </p:cNvPr>
          <p:cNvGrpSpPr/>
          <p:nvPr/>
        </p:nvGrpSpPr>
        <p:grpSpPr>
          <a:xfrm>
            <a:off x="8274083" y="5133612"/>
            <a:ext cx="3332964" cy="1314739"/>
            <a:chOff x="8274083" y="5133612"/>
            <a:chExt cx="3332964" cy="131473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521E9EF-0C75-200E-DEEF-F05D5B2E81C1}"/>
                </a:ext>
              </a:extLst>
            </p:cNvPr>
            <p:cNvSpPr txBox="1"/>
            <p:nvPr/>
          </p:nvSpPr>
          <p:spPr>
            <a:xfrm>
              <a:off x="8274083" y="5525021"/>
              <a:ext cx="333296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Categorical variables encoding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Missing values handling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Normalisation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25E3AF8-FD05-2A5D-07DD-D22CC0C0A503}"/>
                </a:ext>
              </a:extLst>
            </p:cNvPr>
            <p:cNvSpPr txBox="1"/>
            <p:nvPr/>
          </p:nvSpPr>
          <p:spPr>
            <a:xfrm>
              <a:off x="8302296" y="5133612"/>
              <a:ext cx="16382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u="sng" dirty="0">
                  <a:solidFill>
                    <a:srgbClr val="017B9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Pre-processing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720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5" grpId="0"/>
      <p:bldP spid="17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8AF236B-88FB-16C2-47FE-BE1097BA71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782" t="8568" r="14512" b="9738"/>
          <a:stretch/>
        </p:blipFill>
        <p:spPr>
          <a:xfrm>
            <a:off x="85725" y="3681985"/>
            <a:ext cx="3643313" cy="2676259"/>
          </a:xfrm>
          <a:prstGeom prst="rect">
            <a:avLst/>
          </a:prstGeom>
        </p:spPr>
      </p:pic>
      <p:sp>
        <p:nvSpPr>
          <p:cNvPr id="15" name="Striped Right Arrow 14">
            <a:extLst>
              <a:ext uri="{FF2B5EF4-FFF2-40B4-BE49-F238E27FC236}">
                <a16:creationId xmlns:a16="http://schemas.microsoft.com/office/drawing/2014/main" id="{E686A215-9A4E-773F-A466-6AAF707D2F02}"/>
              </a:ext>
            </a:extLst>
          </p:cNvPr>
          <p:cNvSpPr/>
          <p:nvPr/>
        </p:nvSpPr>
        <p:spPr>
          <a:xfrm>
            <a:off x="3782383" y="4765788"/>
            <a:ext cx="1621632" cy="810897"/>
          </a:xfrm>
          <a:prstGeom prst="stripedRightArrow">
            <a:avLst/>
          </a:prstGeom>
          <a:solidFill>
            <a:srgbClr val="460A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84B643-B967-1FE7-B995-E236ECD9FE91}"/>
              </a:ext>
            </a:extLst>
          </p:cNvPr>
          <p:cNvSpPr txBox="1"/>
          <p:nvPr/>
        </p:nvSpPr>
        <p:spPr>
          <a:xfrm>
            <a:off x="4404123" y="3372618"/>
            <a:ext cx="3180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Multi-class classifier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190539-DC19-E9E4-07CA-946C30288F1A}"/>
              </a:ext>
            </a:extLst>
          </p:cNvPr>
          <p:cNvSpPr txBox="1"/>
          <p:nvPr/>
        </p:nvSpPr>
        <p:spPr>
          <a:xfrm>
            <a:off x="5463054" y="4432573"/>
            <a:ext cx="25431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classes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Lost follow up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 decision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 effects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Death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052A49-2E78-8CBC-99C5-5156CB392567}"/>
              </a:ext>
            </a:extLst>
          </p:cNvPr>
          <p:cNvSpPr txBox="1"/>
          <p:nvPr/>
        </p:nvSpPr>
        <p:spPr>
          <a:xfrm>
            <a:off x="5138634" y="0"/>
            <a:ext cx="16193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E00795-4F79-469A-6332-84476FA3EB7D}"/>
              </a:ext>
            </a:extLst>
          </p:cNvPr>
          <p:cNvSpPr txBox="1"/>
          <p:nvPr/>
        </p:nvSpPr>
        <p:spPr>
          <a:xfrm>
            <a:off x="89196" y="626901"/>
            <a:ext cx="794037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machine learning models (e.g. random forest regressor, linear regression)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on a set of data with target variable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b="1" dirty="0">
                <a:solidFill>
                  <a:srgbClr val="7EAE8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retention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Evaluation using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metrics (Mean Squared Error, Mean Absolute Error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External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evaluation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on other studies </a:t>
            </a:r>
          </a:p>
          <a:p>
            <a:pPr marL="3943350" lvl="8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hold-out test for the same disorders</a:t>
            </a:r>
          </a:p>
          <a:p>
            <a:pPr marL="3943350" lvl="8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different disorder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Explainability framework (SHAP) (Lundberg &amp; Lee, 2017)</a:t>
            </a:r>
          </a:p>
          <a:p>
            <a:pPr marL="3943350" lvl="8" indent="-285750">
              <a:buFont typeface="Courier New" panose="02070309020205020404" pitchFamily="49" charset="0"/>
              <a:buChar char="o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 marL="3943350" lvl="8" indent="-285750">
              <a:buFont typeface="Courier New" panose="02070309020205020404" pitchFamily="49" charset="0"/>
              <a:buChar char="o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 descr="A graph with green and red squares&#10;&#10;Description automatically generated">
            <a:extLst>
              <a:ext uri="{FF2B5EF4-FFF2-40B4-BE49-F238E27FC236}">
                <a16:creationId xmlns:a16="http://schemas.microsoft.com/office/drawing/2014/main" id="{7F6D10A5-07F9-C921-CAC5-5E499BFFB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575" y="626901"/>
            <a:ext cx="3833244" cy="2330612"/>
          </a:xfrm>
          <a:prstGeom prst="rect">
            <a:avLst/>
          </a:prstGeom>
        </p:spPr>
      </p:pic>
      <p:sp>
        <p:nvSpPr>
          <p:cNvPr id="27" name="Striped Right Arrow 26">
            <a:extLst>
              <a:ext uri="{FF2B5EF4-FFF2-40B4-BE49-F238E27FC236}">
                <a16:creationId xmlns:a16="http://schemas.microsoft.com/office/drawing/2014/main" id="{0C03C603-196F-656E-8FA1-573B6E2F173A}"/>
              </a:ext>
            </a:extLst>
          </p:cNvPr>
          <p:cNvSpPr/>
          <p:nvPr/>
        </p:nvSpPr>
        <p:spPr>
          <a:xfrm>
            <a:off x="7652148" y="4765788"/>
            <a:ext cx="1621632" cy="810897"/>
          </a:xfrm>
          <a:prstGeom prst="stripedRightArrow">
            <a:avLst/>
          </a:prstGeom>
          <a:solidFill>
            <a:srgbClr val="460A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different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5BF38F-90B3-35C8-7617-9963B6C6DB4A}"/>
              </a:ext>
            </a:extLst>
          </p:cNvPr>
          <p:cNvSpPr txBox="1"/>
          <p:nvPr/>
        </p:nvSpPr>
        <p:spPr>
          <a:xfrm>
            <a:off x="9473002" y="4848070"/>
            <a:ext cx="6100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EAE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Probabilities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class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chosen classifier</a:t>
            </a:r>
          </a:p>
        </p:txBody>
      </p:sp>
    </p:spTree>
    <p:extLst>
      <p:ext uri="{BB962C8B-B14F-4D97-AF65-F5344CB8AC3E}">
        <p14:creationId xmlns:p14="http://schemas.microsoft.com/office/powerpoint/2010/main" val="4195607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20" grpId="0"/>
      <p:bldP spid="23" grpId="0"/>
      <p:bldP spid="24" grpId="0"/>
      <p:bldP spid="27" grpId="0" animBg="1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83424B2-774C-5B52-D507-7E7893028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8" y="715664"/>
            <a:ext cx="9383679" cy="59331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6EB1F8-F93F-D1DD-8F8E-7B92B8827425}"/>
              </a:ext>
            </a:extLst>
          </p:cNvPr>
          <p:cNvSpPr txBox="1"/>
          <p:nvPr/>
        </p:nvSpPr>
        <p:spPr>
          <a:xfrm>
            <a:off x="127043" y="0"/>
            <a:ext cx="8472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could this model aid researchers during trial design?</a:t>
            </a:r>
          </a:p>
        </p:txBody>
      </p:sp>
    </p:spTree>
    <p:extLst>
      <p:ext uri="{BB962C8B-B14F-4D97-AF65-F5344CB8AC3E}">
        <p14:creationId xmlns:p14="http://schemas.microsoft.com/office/powerpoint/2010/main" val="4290156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3393</TotalTime>
  <Words>390</Words>
  <Application>Microsoft Macintosh PowerPoint</Application>
  <PresentationFormat>Widescreen</PresentationFormat>
  <Paragraphs>65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Bafaloukou, Marirena E</dc:creator>
  <cp:lastModifiedBy>Bafaloukou, Marirena</cp:lastModifiedBy>
  <cp:revision>60</cp:revision>
  <cp:lastPrinted>2024-04-21T21:57:35Z</cp:lastPrinted>
  <dcterms:created xsi:type="dcterms:W3CDTF">2024-04-19T11:32:25Z</dcterms:created>
  <dcterms:modified xsi:type="dcterms:W3CDTF">2024-07-04T13:51:19Z</dcterms:modified>
</cp:coreProperties>
</file>